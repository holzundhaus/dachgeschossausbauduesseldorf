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gitlab.com/info4678/dachgeschossausbauduesseldorf/-/blob/8072c1330acc1a914276987f577707733e2ea5b0/_posts/2026-10-29-waermebruecken-dachgeschoss-kniestock-gaube.md" TargetMode="External"/><Relationship Id="rId3" Type="http://schemas.openxmlformats.org/officeDocument/2006/relationships/hyperlink" Target="https://holzundhaus.github.io/dachgeschossausbauduesseldorf/dateien/minimax-0e2a5f79c83151c6a64f1869/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Wärmebrücken am Dachgeschoss erkennen und entschärfen: Schwachstellen an Schräge, Kniestock, Gaube und Ringanker · Erklärende Präsentation</a:t>
            </a:r>
          </a:p>
        </p:txBody>
      </p:sp>
      <p:sp>
        <p:nvSpPr>
          <p:cNvPr id="3" name="Content Placeholder 2"/>
          <p:cNvSpPr>
            <a:spLocks noGrp="1"/>
          </p:cNvSpPr>
          <p:nvPr>
            <p:ph idx="1"/>
          </p:nvPr>
        </p:nvSpPr>
        <p:spPr/>
        <p:txBody>
          <a:bodyPr/>
          <a:lstStyle/>
          <a:p>
            <a:r>
              <a:t>Überblick: Beim Dachgeschossausbau in Düsseldorf entscheidet die Qualität der Bauteilanschlüsse häufig über Behaglichkeit, Heizkosten und die spätere Schimmelfreiheit. Der U-Wert der Dachfläche allein beschreibt die energetische Hülle nur unvollständig: An Kniestock, Sparrenauflager, Gaube, Ringanker und Dachflächenfenster entstehen zusätzliche Wärmeverluste. Dieser Ratgeber erklärt, wie lineare und punktuelle Wärmebrücken entstehen und welche Konstruktionsdetails eine möglichst geschlossene Dämmebene unterstützen.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Lineare und punktuelle Wärmebrücken unterscheiden</a:t>
            </a:r>
          </a:p>
        </p:txBody>
      </p:sp>
      <p:sp>
        <p:nvSpPr>
          <p:cNvPr id="3" name="Content Placeholder 2"/>
          <p:cNvSpPr>
            <a:spLocks noGrp="1"/>
          </p:cNvSpPr>
          <p:nvPr>
            <p:ph idx="1"/>
          </p:nvPr>
        </p:nvSpPr>
        <p:spPr/>
        <p:txBody>
          <a:bodyPr/>
          <a:lstStyle/>
          <a:p>
            <a:pPr>
              <a:defRPr sz="1800"/>
            </a:pPr>
            <a:r>
              <a:t>Eine lineare Wärmebrücke wirkt entlang einer Bauteilkante, etwa am Übergang von der Dachschräge zum Kniestock. Sie wird mit einem psi-Wert in W/(m·K) beschrieben und erhöht den Wärmeverlust pro Meter Bauteilkante. Eine punktuelle Wärmebrücke tritt an einer Durchdringung oder einem einzelnen Auflager auf, beispielsweise dort, wo ein Sparren auf dem Ringanker sitzt. Für punktuelle Schwachstellen wird der chi-Wert in W/K verwendet. Beide Verluste ergänzen den U-Wert der Fläche und sollten bei der Hüllenberechnung berücksichtigt werden. Besonders relevant sind sie, wenn die einzelnen Bauteile bereits einen guten U-Wert aufweisen und jede zusätzli</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Lineare und punktuelle Wärmebrücken unterscheiden</a:t>
            </a:r>
          </a:p>
        </p:txBody>
      </p:sp>
      <p:sp>
        <p:nvSpPr>
          <p:cNvPr id="3" name="Content Placeholder 2"/>
          <p:cNvSpPr>
            <a:spLocks noGrp="1"/>
          </p:cNvSpPr>
          <p:nvPr>
            <p:ph idx="1"/>
          </p:nvPr>
        </p:nvSpPr>
        <p:spPr/>
        <p:txBody>
          <a:bodyPr/>
          <a:lstStyle/>
          <a:p>
            <a:pPr>
              <a:defRPr sz="1800"/>
            </a:pPr>
            <a:r>
              <a:t>che Schwachstelle den energetischen Nutzen der Dämmung deutlich verringert.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Typische Schwachstellen im Dachgeschoss</a:t>
            </a:r>
          </a:p>
        </p:txBody>
      </p:sp>
      <p:sp>
        <p:nvSpPr>
          <p:cNvPr id="3" name="Content Placeholder 2"/>
          <p:cNvSpPr>
            <a:spLocks noGrp="1"/>
          </p:cNvSpPr>
          <p:nvPr>
            <p:ph idx="1"/>
          </p:nvPr>
        </p:nvSpPr>
        <p:spPr/>
        <p:txBody>
          <a:bodyPr/>
          <a:lstStyle/>
          <a:p>
            <a:pPr>
              <a:defRPr sz="1800"/>
            </a:pPr>
            <a:r>
              <a:t>Besonders häufig ist der Übergang zwischen Kniestock und Dachschräge, wenn die Dämmebene nur in einer Ebene fortgeführt wird. Bei Zwischensparrendämmung bilden die Holzsparren einen zusätzlichen Wärmeleitpfad; zwischen ihnen und den Dämmfeldern entstehen rhythmische Zonen aus wärmeren und kälteren Bereichen. Gaubenflanken und Fensterlaibungen konzentrieren mehrere Bauteile auf engstem Raum. Auch der Ringanker in der obersten Geschossdecke unterbricht die umlaufende Dämmung. Dachflächenfenster ergänzen das Problem durch Rahmen, Blendrahmen und Einbaukasten. In älteren Düsseldorfer Bestandsbauten treffen diese Details häufig auf Holzbalkendecke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Typische Schwachstellen im Dachgeschoss</a:t>
            </a:r>
          </a:p>
        </p:txBody>
      </p:sp>
      <p:sp>
        <p:nvSpPr>
          <p:cNvPr id="3" name="Content Placeholder 2"/>
          <p:cNvSpPr>
            <a:spLocks noGrp="1"/>
          </p:cNvSpPr>
          <p:nvPr>
            <p:ph idx="1"/>
          </p:nvPr>
        </p:nvSpPr>
        <p:spPr/>
        <p:txBody>
          <a:bodyPr/>
          <a:lstStyle/>
          <a:p>
            <a:pPr>
              <a:defRPr sz="1800"/>
            </a:pPr>
            <a:r>
              <a:t>n, Vollziegelkniestöcke, ältere Zwischensparrendämmungen und Gauben mit ungedämmten Flanken.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Eine geschlossene Dämmebene planen</a:t>
            </a:r>
          </a:p>
        </p:txBody>
      </p:sp>
      <p:sp>
        <p:nvSpPr>
          <p:cNvPr id="3" name="Content Placeholder 2"/>
          <p:cNvSpPr>
            <a:spLocks noGrp="1"/>
          </p:cNvSpPr>
          <p:nvPr>
            <p:ph idx="1"/>
          </p:nvPr>
        </p:nvSpPr>
        <p:spPr/>
        <p:txBody>
          <a:bodyPr/>
          <a:lstStyle/>
          <a:p>
            <a:pPr>
              <a:defRPr sz="1800"/>
            </a:pPr>
            <a:r>
              <a:t>Das zentrale Planungsziel ist eine möglichst unterbrechungsfreie Dämmebene. Bei einer Aufsparrendämmung liegen die Sparren innen, die Dämmung außen. Eine durchgehende Außenschicht reduziert die linearen Verluste am Sparrenanschluss; in hybriden Aufbauten kann zusätzlich eine Zwischensparrendämmung vorgesehen werden. Der Kniestock benötigt im Inneren eine Installationsebene, die ohne Lücke in die Dämmung der Dachschrägen übergeht. Eine Dampfbremse sollte dabei lückenlos geführt werden. Bei Gaubenflanken ist eine Dämmstärke mindestens in der Stärke der Hauptdachdämmung sinnvoll, an Laibungen kann eine zusätzliche Dämmung mit XPS oder PUR die Sc</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Eine geschlossene Dämmebene planen</a:t>
            </a:r>
          </a:p>
        </p:txBody>
      </p:sp>
      <p:sp>
        <p:nvSpPr>
          <p:cNvPr id="3" name="Content Placeholder 2"/>
          <p:cNvSpPr>
            <a:spLocks noGrp="1"/>
          </p:cNvSpPr>
          <p:nvPr>
            <p:ph idx="1"/>
          </p:nvPr>
        </p:nvSpPr>
        <p:spPr/>
        <p:txBody>
          <a:bodyPr/>
          <a:lstStyle/>
          <a:p>
            <a:pPr>
              <a:defRPr sz="1800"/>
            </a:pPr>
            <a:r>
              <a:t>hwachstelle reduzieren. Anschlussfugen sind mit geeignetem Dichtband und abgestimmter Dampfbremse zu versehen.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Ringanker und Dachflächenfenster einbeziehen</a:t>
            </a:r>
          </a:p>
        </p:txBody>
      </p:sp>
      <p:sp>
        <p:nvSpPr>
          <p:cNvPr id="3" name="Content Placeholder 2"/>
          <p:cNvSpPr>
            <a:spLocks noGrp="1"/>
          </p:cNvSpPr>
          <p:nvPr>
            <p:ph idx="1"/>
          </p:nvPr>
        </p:nvSpPr>
        <p:spPr/>
        <p:txBody>
          <a:bodyPr/>
          <a:lstStyle/>
          <a:p>
            <a:pPr>
              <a:defRPr sz="1800"/>
            </a:pPr>
            <a:r>
              <a:t>Der Ringanker sollte nicht durchstoßen, sondern in die Dämmebene eingebunden werden. Wird die Dämmung außenseitig um ihn herumgeführt oder als durchgehende Aufsparrendämmung über die Traufe geplant, lässt sich die punktuelle Schwachstelle am Sparrenauflager vermindern. Beim Dachflächenfenster ist der Einbaukasten geometrisch und konstruktiv kritisch. Ein umlaufender Dämmkeil aus XPS oder Mineralwolle kann die Dämmebene um den Fensterrahmen herum schließen. Die Anschluss-Schürze des Herstellers sollte in die Dampfbremse eingebunden werden. Ein gedämmter Blendrahmen und eine Dreifachverglasung ergänzen die konstruktive Lösung, ersetzen jedoch 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Ringanker und Dachflächenfenster einbeziehen</a:t>
            </a:r>
          </a:p>
        </p:txBody>
      </p:sp>
      <p:sp>
        <p:nvSpPr>
          <p:cNvPr id="3" name="Content Placeholder 2"/>
          <p:cNvSpPr>
            <a:spLocks noGrp="1"/>
          </p:cNvSpPr>
          <p:nvPr>
            <p:ph idx="1"/>
          </p:nvPr>
        </p:nvSpPr>
        <p:spPr/>
        <p:txBody>
          <a:bodyPr/>
          <a:lstStyle/>
          <a:p>
            <a:pPr>
              <a:defRPr sz="1800"/>
            </a:pPr>
            <a:r>
              <a:t>icht die sorgfältige Anschlussplanung.</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Prüfen und fachlich abstimmen</a:t>
            </a:r>
          </a:p>
        </p:txBody>
      </p:sp>
      <p:sp>
        <p:nvSpPr>
          <p:cNvPr id="3" name="Content Placeholder 2"/>
          <p:cNvSpPr>
            <a:spLocks noGrp="1"/>
          </p:cNvSpPr>
          <p:nvPr>
            <p:ph idx="1"/>
          </p:nvPr>
        </p:nvSpPr>
        <p:spPr/>
        <p:txBody>
          <a:bodyPr/>
          <a:lstStyle/>
          <a:p>
            <a:pPr>
              <a:defRPr sz="1800"/>
            </a:pPr>
            <a:r>
              <a:t>Vor der Umsetzung sollte die Dämmebene als geschlossene Linie rund um das Dachgeschoss geplant werden: vom Kniestock über die Dachschräge zur Gaube und weiter zur Fensterlaibung. Bei Zwischensparrendämmung ist eine zusätzliche Auf- oder Untersparrendämmung zu prüfen, um den Sparrenrhythmus zu unterbrechen. Ringanker, Luftdichtung und Dampfbremse müssen in dieselbe Planung einbezogen werden. Als anerkannte Auslegungsregel kann der Gleichwertigkeitsnachweis nach DIN 4108 Beiblatt 2 dienen, wenn die Anschlüsse den dort beschriebenen konstruktiven Beispielen entsprechen. Bei Abweichungen ist eine projektbezogene Berechnung nach DIN EN ISO 10211 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Prüfen und fachlich abstimmen</a:t>
            </a:r>
          </a:p>
        </p:txBody>
      </p:sp>
      <p:sp>
        <p:nvSpPr>
          <p:cNvPr id="3" name="Content Placeholder 2"/>
          <p:cNvSpPr>
            <a:spLocks noGrp="1"/>
          </p:cNvSpPr>
          <p:nvPr>
            <p:ph idx="1"/>
          </p:nvPr>
        </p:nvSpPr>
        <p:spPr/>
        <p:txBody>
          <a:bodyPr/>
          <a:lstStyle/>
          <a:p>
            <a:pPr>
              <a:defRPr sz="1800"/>
            </a:pPr>
            <a:r>
              <a:t>innvoll. Sie liefert lineare und punktuelle Wärmebrückenwerte, die in die Energiebilanz eingehen. Für die Hüllenberechnung und den GEG-bezogenen Nachweis sollte eine qualifizierte Energieberatung oder Bauphysik einbezogen werden.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Wärmebrücken am Dachgeschoss erkennen und entschärfen: Schwachstellen an Schräge, Kniestock, Gaube und Ringanker</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