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duesseldorf/-/blob/954b86ab9bfbd0f4c62e8a64dac90d1007d48655/_posts/2026-10-19-kostenplanung-dachgeschossausbau-puffer-naehtraege-zahlungsplan.md" TargetMode="External"/><Relationship Id="rId3" Type="http://schemas.openxmlformats.org/officeDocument/2006/relationships/hyperlink" Target="https://holzundhaus.github.io/dachgeschossausbauduesseldorf/dateien/minimax-cf33391ce706dfea8fff61e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Kostenplanung beim Dachgeschossausbau: Puffer, Nachträge und Zahlungsplan · Erklärende Präsentation</a:t>
            </a:r>
          </a:p>
        </p:txBody>
      </p:sp>
      <p:sp>
        <p:nvSpPr>
          <p:cNvPr id="3" name="Content Placeholder 2"/>
          <p:cNvSpPr>
            <a:spLocks noGrp="1"/>
          </p:cNvSpPr>
          <p:nvPr>
            <p:ph idx="1"/>
          </p:nvPr>
        </p:nvSpPr>
        <p:spPr/>
        <p:txBody>
          <a:bodyPr/>
          <a:lstStyle/>
          <a:p>
            <a:r>
              <a:t>Überblick: Beim Dachgeschossausbau entscheidet sich die Belastbarkeit eines Angebots nicht nur an seiner Endsumme. Entscheidend sind vielmehr die nachvollziehbare Aufteilung der Kosten, sichtbare Risiken und ein Zahlungsplan, der den tatsächlichen Baufortschritt berücksichtigt. Der folgende Leitfaden strukturiert die wichtigsten Prüfschritte für die Kostenplanung, damit Leistungen, Puffer und Nachträge bereits im Vorfeld klar bleiben.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als Kostenmatrix lesen</a:t>
            </a:r>
          </a:p>
        </p:txBody>
      </p:sp>
      <p:sp>
        <p:nvSpPr>
          <p:cNvPr id="3" name="Content Placeholder 2"/>
          <p:cNvSpPr>
            <a:spLocks noGrp="1"/>
          </p:cNvSpPr>
          <p:nvPr>
            <p:ph idx="1"/>
          </p:nvPr>
        </p:nvSpPr>
        <p:spPr/>
        <p:txBody>
          <a:bodyPr/>
          <a:lstStyle/>
          <a:p>
            <a:pPr>
              <a:defRPr sz="1800"/>
            </a:pPr>
            <a:r>
              <a:t>Eine belastbare Kostenplanung beginnt mit einzelnen Gewerken statt mit einer Pauschalsumme. Zu prüfen sind unter anderem Rückbau und Entsorgung, Dämmung der Dachfläche, Trockenbau, Bodenaufbau, Elektroinstallation, Heizung und Sanitär sowie Gauben als mögliche Zusatzposition. Für jede Position sollten Leistungsumfang, Material, Mengen und Abgrenzungen erkennbar sein. So lässt sich erkennen, ob ein Anbieter alle Arbeiten aus einer Hand erledigt oder Subunternehmer einbindet. Besonders wichtig sind klare Aussagen zu Dämmung, Dampfsperre, Brandschutz und Elektroinstallation. Die Kosten-Seite der Website bietet dafür eine detaillierte Preisübersi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als Kostenmatrix lesen</a:t>
            </a:r>
          </a:p>
        </p:txBody>
      </p:sp>
      <p:sp>
        <p:nvSpPr>
          <p:cNvPr id="3" name="Content Placeholder 2"/>
          <p:cNvSpPr>
            <a:spLocks noGrp="1"/>
          </p:cNvSpPr>
          <p:nvPr>
            <p:ph idx="1"/>
          </p:nvPr>
        </p:nvSpPr>
        <p:spPr/>
        <p:txBody>
          <a:bodyPr/>
          <a:lstStyle/>
          <a:p>
            <a:pPr>
              <a:defRPr sz="1800"/>
            </a:pPr>
            <a:r>
              <a:t>cht und einen Rechner für Düsseldorfer Projekte.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Pufferarten unterscheiden</a:t>
            </a:r>
          </a:p>
        </p:txBody>
      </p:sp>
      <p:sp>
        <p:nvSpPr>
          <p:cNvPr id="3" name="Content Placeholder 2"/>
          <p:cNvSpPr>
            <a:spLocks noGrp="1"/>
          </p:cNvSpPr>
          <p:nvPr>
            <p:ph idx="1"/>
          </p:nvPr>
        </p:nvSpPr>
        <p:spPr/>
        <p:txBody>
          <a:bodyPr/>
          <a:lstStyle/>
          <a:p>
            <a:pPr>
              <a:defRPr sz="1800"/>
            </a:pPr>
            <a:r>
              <a:t>Im Bestand reicht ein einzelner pauschaler Puffer häufig nicht aus. Die Quelle unterscheidet deshalb zwischen Planungspuffer, Baupuffer und Preissteigerungspuffer. Der Planungspuffer deckt zusätzliche Leistungen rund um Genehmigung, Statik und Energieberatung ab. Der Baupuffer berücksichtigt unvorhergesehene Arbeiten an vorhandenen Konstruktionen. Der Preissteigerungspuffer ist bei längeren Bauzeiten relevant. In älteren Gebäuden können diese Schichten zusammen schnell 15 bis 20 Prozent der Auftragssumme ausmachen. Entscheidend ist nicht die Höhe allein, sondern die Transparenz: Jeder Puffer sollte im Angebot sichtbar und nachvollziehbar aufg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Pufferarten unterscheiden</a:t>
            </a:r>
          </a:p>
        </p:txBody>
      </p:sp>
      <p:sp>
        <p:nvSpPr>
          <p:cNvPr id="3" name="Content Placeholder 2"/>
          <p:cNvSpPr>
            <a:spLocks noGrp="1"/>
          </p:cNvSpPr>
          <p:nvPr>
            <p:ph idx="1"/>
          </p:nvPr>
        </p:nvSpPr>
        <p:spPr/>
        <p:txBody>
          <a:bodyPr/>
          <a:lstStyle/>
          <a:p>
            <a:pPr>
              <a:defRPr sz="1800"/>
            </a:pPr>
            <a:r>
              <a:t>eführt werden, statt als versteckter Zuschlag zu erscheinen.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Nachträge durch Bestandsprüfung begrenzen</a:t>
            </a:r>
          </a:p>
        </p:txBody>
      </p:sp>
      <p:sp>
        <p:nvSpPr>
          <p:cNvPr id="3" name="Content Placeholder 2"/>
          <p:cNvSpPr>
            <a:spLocks noGrp="1"/>
          </p:cNvSpPr>
          <p:nvPr>
            <p:ph idx="1"/>
          </p:nvPr>
        </p:nvSpPr>
        <p:spPr/>
        <p:txBody>
          <a:bodyPr/>
          <a:lstStyle/>
          <a:p>
            <a:pPr>
              <a:defRPr sz="1800"/>
            </a:pPr>
            <a:r>
              <a:t>Verdeckte Mängel werden häufig erst sichtbar, wenn Verkleidungen entfernt oder der Bodenaufbau geöffnet wird. Marode Holzbalken, durchfeuchtete Dämmung oder alte Installationen können dann zu zusätzlichen Leistungen führen. Eine Öffnung bestehender Verkleidungen vor Vertragsschluss, zumindest in Abstimmung mit dem Auftragnehmer, schafft daher eine bessere Grundlage. Für unvorhergesehene Arbeiten sollte das Angebot einen Prozess vorsehen: Nachträge werden schriftlich begründet, mit Fotos und Mengenberechnung dokumentiert und gegen die ursprüngliche Leistungsbeschreibung geprüft. Zusätzlich kann ein vereinbarter Deckel für Mehrleistungen die 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Nachträge durch Bestandsprüfung begrenzen</a:t>
            </a:r>
          </a:p>
        </p:txBody>
      </p:sp>
      <p:sp>
        <p:nvSpPr>
          <p:cNvPr id="3" name="Content Placeholder 2"/>
          <p:cNvSpPr>
            <a:spLocks noGrp="1"/>
          </p:cNvSpPr>
          <p:nvPr>
            <p:ph idx="1"/>
          </p:nvPr>
        </p:nvSpPr>
        <p:spPr/>
        <p:txBody>
          <a:bodyPr/>
          <a:lstStyle/>
          <a:p>
            <a:pPr>
              <a:defRPr sz="1800"/>
            </a:pPr>
            <a:r>
              <a:t>rhandlungsbasis verbessern. Die Quelle nennt als Beispiel, dass Mehrleistungen bis zu 10 Prozent der Auftragssumme im Pauschalpreis enthalten sein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Pauschal- und Aufmaßvertrag vergleichen</a:t>
            </a:r>
          </a:p>
        </p:txBody>
      </p:sp>
      <p:sp>
        <p:nvSpPr>
          <p:cNvPr id="3" name="Content Placeholder 2"/>
          <p:cNvSpPr>
            <a:spLocks noGrp="1"/>
          </p:cNvSpPr>
          <p:nvPr>
            <p:ph idx="1"/>
          </p:nvPr>
        </p:nvSpPr>
        <p:spPr/>
        <p:txBody>
          <a:bodyPr/>
          <a:lstStyle/>
          <a:p>
            <a:pPr>
              <a:defRPr sz="1800"/>
            </a:pPr>
            <a:r>
              <a:t>Pauschal- und Aufmaßvertrag haben unterschiedliche Risikoprofile. Ein Pauschalvertrag bietet einen festen Preis und einen klaren Endpunkt, setzt jedoch einen bereits gut bekannten Bestand voraus. Beim Aufmaßvertrag wird nach tatsächlichem Maß und tatsächlichen Mengen abgerechnet; das ist bei komplexer Geometrie oder unklaren Ausgangssituationen transparenter, lässt den Endpreis aber erst nach der Schlussrechnung erkennen. Problematisch ist eine Mischung aus festem Pauschalpreis und zusätzlicher Abrechnung nach Aufmaß. Wer eine Wahlmöglichkeit hat, sollte eine Vertragslinie eindeutig festlegen und die jeweiligen Konsequenzen im Vertragstext kl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Pauschal- und Aufmaßvertrag vergleichen</a:t>
            </a:r>
          </a:p>
        </p:txBody>
      </p:sp>
      <p:sp>
        <p:nvSpPr>
          <p:cNvPr id="3" name="Content Placeholder 2"/>
          <p:cNvSpPr>
            <a:spLocks noGrp="1"/>
          </p:cNvSpPr>
          <p:nvPr>
            <p:ph idx="1"/>
          </p:nvPr>
        </p:nvSpPr>
        <p:spPr/>
        <p:txBody>
          <a:bodyPr/>
          <a:lstStyle/>
          <a:p>
            <a:pPr>
              <a:defRPr sz="1800"/>
            </a:pPr>
            <a:r>
              <a:t>ären. Das ist besonders hilfreich, wenn während der Planung mehrere Alternativen für Gauben, Dämmung oder technische Ausstattung geprüft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Zahlungen an Bautenstand und Abnahme koppeln</a:t>
            </a:r>
          </a:p>
        </p:txBody>
      </p:sp>
      <p:sp>
        <p:nvSpPr>
          <p:cNvPr id="3" name="Content Placeholder 2"/>
          <p:cNvSpPr>
            <a:spLocks noGrp="1"/>
          </p:cNvSpPr>
          <p:nvPr>
            <p:ph idx="1"/>
          </p:nvPr>
        </p:nvSpPr>
        <p:spPr/>
        <p:txBody>
          <a:bodyPr/>
          <a:lstStyle/>
          <a:p>
            <a:pPr>
              <a:defRPr sz="1800"/>
            </a:pPr>
            <a:r>
              <a:t>Ein sinnvoller Zahlungsplan richtet sich nicht nach vorher festgelegten Prozentzahlen, sondern nach nachvollziehbaren Bautenstandspunkten. Die Quelle nennt Abschnitte nach Beginn und Materiallieferung, nach Rohbau beziehungsweise Dämmung und Trockenbau, nach Technikinstallation, nach Oberböden und Malerarbeiten sowie eine Schlussrate nach Abnahme und Mängelbeseitigung. Jede Abschlagsrechnung sollte gegen den vereinbarten Zahlungsplan und den tatsächlichen Fortschritt geprüft werden. Eine Sicherheitsleistung, etwa in Form einer Bürgschaft oder eines Einbehalts von meist 5 Prozent der Schlussrechnung, kann außerdem dabei helfen, offene Mängel 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Zahlungen an Bautenstand und Abnahme koppeln</a:t>
            </a:r>
          </a:p>
        </p:txBody>
      </p:sp>
      <p:sp>
        <p:nvSpPr>
          <p:cNvPr id="3" name="Content Placeholder 2"/>
          <p:cNvSpPr>
            <a:spLocks noGrp="1"/>
          </p:cNvSpPr>
          <p:nvPr>
            <p:ph idx="1"/>
          </p:nvPr>
        </p:nvSpPr>
        <p:spPr/>
        <p:txBody>
          <a:bodyPr/>
          <a:lstStyle/>
          <a:p>
            <a:pPr>
              <a:defRPr sz="1800"/>
            </a:pPr>
            <a:r>
              <a:t>ach der Abnahme zu sichern. Fördermittel sollten vor Maßnahmebeginn geprüft und energetische Maßnahmen getrennt vom übrigen Ausbau dokumentiert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Kostenplanung beim Dachgeschossausbau: Puffer, Nachträge und Zahlungsplan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