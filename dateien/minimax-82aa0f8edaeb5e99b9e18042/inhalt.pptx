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duesseldorf/-/blob/6079a84364a8da7721486916f1f7783f935f7d84/_posts/2026-10-24-waermepumpe-dachgeschoss-aufstellung-schallschutz-foerderung.md" TargetMode="External"/><Relationship Id="rId3" Type="http://schemas.openxmlformats.org/officeDocument/2006/relationships/hyperlink" Target="https://holzundhaus.github.io/dachgeschossausbauduesseldorf/dateien/minimax-82aa0f8edaeb5e99b9e1804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Wärmepumpe im Dachgeschoss: Aufstellung, Schallschutz und Förderung 2026 · Erklärende Präsentation</a:t>
            </a:r>
          </a:p>
        </p:txBody>
      </p:sp>
      <p:sp>
        <p:nvSpPr>
          <p:cNvPr id="3" name="Content Placeholder 2"/>
          <p:cNvSpPr>
            <a:spLocks noGrp="1"/>
          </p:cNvSpPr>
          <p:nvPr>
            <p:ph idx="1"/>
          </p:nvPr>
        </p:nvSpPr>
        <p:spPr/>
        <p:txBody>
          <a:bodyPr/>
          <a:lstStyle/>
          <a:p>
            <a:r>
              <a:t>Überblick: Bei der Haustechnik für ein ausgebautes Dachgeschoss in Düsseldorf reicht die Entscheidung für eine Wärmepumpe allein nicht aus. Entscheidend ist, ob die neue Fläche sinnvoll an eine bestehende Heizung angebunden werden kann oder ob ein eigener Heizkreis mit passender Wärmequelle entsteht. Der folgende Leitfaden ordnet Luft-Wasser-, Sole-Wasser- und Brennwertsysteme ein und zeigt, worauf bei Aufstellung, Schallschutz, Dämmung und Förderung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die bisherige Heizung nicht mehr ausreichend?</a:t>
            </a:r>
          </a:p>
        </p:txBody>
      </p:sp>
      <p:sp>
        <p:nvSpPr>
          <p:cNvPr id="3" name="Content Placeholder 2"/>
          <p:cNvSpPr>
            <a:spLocks noGrp="1"/>
          </p:cNvSpPr>
          <p:nvPr>
            <p:ph idx="1"/>
          </p:nvPr>
        </p:nvSpPr>
        <p:spPr/>
        <p:txBody>
          <a:bodyPr/>
          <a:lstStyle/>
          <a:p>
            <a:pPr>
              <a:defRPr sz="1800"/>
            </a:pPr>
            <a:r>
              <a:t>Ein Dachgeschossausbau vergrößert die beheizte Fläche häufig um 50 bis 100 Quadratmeter. Zusätzlich können ein Bad, schlecht gedämmte Dachschrägen und längere Steigungsleitungen den Bedarf erhöhen. Anzeichen für eine zu knapp dimensionierte Anlage sind schwach werdende Heizkörper im Dachgeschoss oder eine unsichere Warmwasserbereitung. Vor einer Entscheidung sollten daher Wärmebedarf, Heizlast und Warmwasserbedarf des neuen Bereichs ermittelt und mit der Leistung der Bestandsanlage verglichen werden. Lässt sich ein eigener Heizkreis hydraulisch trennen, kann dies sinnvoll sein. Details zur Einbindung in das Düsseldorfer Dachgeschoss bietet 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die bisherige Heizung nicht mehr ausreichend?</a:t>
            </a:r>
          </a:p>
        </p:txBody>
      </p:sp>
      <p:sp>
        <p:nvSpPr>
          <p:cNvPr id="3" name="Content Placeholder 2"/>
          <p:cNvSpPr>
            <a:spLocks noGrp="1"/>
          </p:cNvSpPr>
          <p:nvPr>
            <p:ph idx="1"/>
          </p:nvPr>
        </p:nvSpPr>
        <p:spPr/>
        <p:txBody>
          <a:bodyPr/>
          <a:lstStyle/>
          <a:p>
            <a:pPr>
              <a:defRPr sz="1800"/>
            </a:pPr>
            <a:r>
              <a:t>e Übersicht zur [Haustechnik im Dachgeschoss](https://dachgeschossausbauduesseldorf.de).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Wärmequelle passt zu den baulichen Gegebenheiten?</a:t>
            </a:r>
          </a:p>
        </p:txBody>
      </p:sp>
      <p:sp>
        <p:nvSpPr>
          <p:cNvPr id="3" name="Content Placeholder 2"/>
          <p:cNvSpPr>
            <a:spLocks noGrp="1"/>
          </p:cNvSpPr>
          <p:nvPr>
            <p:ph idx="1"/>
          </p:nvPr>
        </p:nvSpPr>
        <p:spPr/>
        <p:txBody>
          <a:bodyPr/>
          <a:lstStyle/>
          <a:p>
            <a:pPr>
              <a:defRPr sz="1800"/>
            </a:pPr>
            <a:r>
              <a:t>Eine Luft-Wasser-Wärmepumpe benötigt eine Außen- und eine Inneneinheit. Sie lässt sich vergleichsweise einfach installieren, ist bei milden Außentemperaturen effizient und verliert bei Frost an Leistung. Ihre Betriebsgeräusche sprechen für einen möglichst weit entfernten oder abgeschirmten Stellplatz. Eine Sole-Wasser-Wärmepumpe nutzt das Erdreich als Wärmequelle, arbeitet mit ganzjährig stabilem Temperaturniveau und erzeugt Schall im Wesentlichen an der Inneneinheit. Dafür sind Erdarbeiten und bei einer Bohrung eine wasserrechtliche Genehmigung erforderlich. Ist bereits ein Gasanschluss vorhanden, kann eine Brennwerttherme die technisch einf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Wärmequelle passt zu den baulichen Gegebenheiten?</a:t>
            </a:r>
          </a:p>
        </p:txBody>
      </p:sp>
      <p:sp>
        <p:nvSpPr>
          <p:cNvPr id="3" name="Content Placeholder 2"/>
          <p:cNvSpPr>
            <a:spLocks noGrp="1"/>
          </p:cNvSpPr>
          <p:nvPr>
            <p:ph idx="1"/>
          </p:nvPr>
        </p:nvSpPr>
        <p:spPr/>
        <p:txBody>
          <a:bodyPr/>
          <a:lstStyle/>
          <a:p>
            <a:pPr>
              <a:defRPr sz="1800"/>
            </a:pPr>
            <a:r>
              <a:t>achste Lösung sein. Sie bleibt jedoch an fossile Brennstoffe gebunden, verlangt eine aufwendige Abgasführung und rechnet sich im Vergleich zu einer Wärmepumpe bei niedrigen Vorlauftemperaturen langfristig meist nur eingeschränkt.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Aufstellort im Dachgeschoss geplant?</a:t>
            </a:r>
          </a:p>
        </p:txBody>
      </p:sp>
      <p:sp>
        <p:nvSpPr>
          <p:cNvPr id="3" name="Content Placeholder 2"/>
          <p:cNvSpPr>
            <a:spLocks noGrp="1"/>
          </p:cNvSpPr>
          <p:nvPr>
            <p:ph idx="1"/>
          </p:nvPr>
        </p:nvSpPr>
        <p:spPr/>
        <p:txBody>
          <a:bodyPr/>
          <a:lstStyle/>
          <a:p>
            <a:pPr>
              <a:defRPr sz="1800"/>
            </a:pPr>
            <a:r>
              <a:t>Für die Inneneinheit benötigt die Planung eine tragfähige, schwingungsarme Fläche. Auf Holzbalkendecken empfiehlt sich eine separate Aufstellung auf einer entkoppelten Bodenplatte oder auf dem Estrich. Vorlauf und Rücklauf sollten kurz bleiben und hydraulisch von anderen Kreisen getrennt sein, damit das Dachgeschoss zuverlässig als eigener Heizkreis arbeitet. Zugleich ist eine niedrige Vorlauftemperatur wichtig: Fußbodenheizung oder ausreichend groß dimensionierte Heizkörper können mit etwa 35 bis 45 Grad Celsius arbeiten. Das unterstützt den effizienten Betrieb einer Wärmepumpe. Vor der Festlegung des Stellplatzes sind deshalb nicht nur Grun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Aufstellort im Dachgeschoss geplant?</a:t>
            </a:r>
          </a:p>
        </p:txBody>
      </p:sp>
      <p:sp>
        <p:nvSpPr>
          <p:cNvPr id="3" name="Content Placeholder 2"/>
          <p:cNvSpPr>
            <a:spLocks noGrp="1"/>
          </p:cNvSpPr>
          <p:nvPr>
            <p:ph idx="1"/>
          </p:nvPr>
        </p:nvSpPr>
        <p:spPr/>
        <p:txBody>
          <a:bodyPr/>
          <a:lstStyle/>
          <a:p>
            <a:pPr>
              <a:defRPr sz="1800"/>
            </a:pPr>
            <a:r>
              <a:t>driss und Tragwerk, sondern auch Leitungswege, Kältemittelführungen, Wartungszugang und die Nähe zu Schlaf- oder Wohnräumen zu berücksichtigen.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Maßnahmen reduzieren Schall und Vibration?</a:t>
            </a:r>
          </a:p>
        </p:txBody>
      </p:sp>
      <p:sp>
        <p:nvSpPr>
          <p:cNvPr id="3" name="Content Placeholder 2"/>
          <p:cNvSpPr>
            <a:spLocks noGrp="1"/>
          </p:cNvSpPr>
          <p:nvPr>
            <p:ph idx="1"/>
          </p:nvPr>
        </p:nvSpPr>
        <p:spPr/>
        <p:txBody>
          <a:bodyPr/>
          <a:lstStyle/>
          <a:p>
            <a:pPr>
              <a:defRPr sz="1800"/>
            </a:pPr>
            <a:r>
              <a:t>Wärmepumpen erreichen je nach Modell etwa 35 bis 55 dB(A) in einem Meter Abstand; in Wohnräumen können bereits Werte ab ungefähr 25 dB(A) nachts stören. Eine Aufstellung im Technikraum oder im nicht ausgebauten Spitzboden ist meist sinnvoller als eine Position unmittelbar unter der Dachschräge. Schwingungsdämpfer zwischen Gerät und Boden sowie flexible Anschlüsse für Heizungs- und Kältemittelleitungen verringern die Übertragung von Körperschall. Trockenbauwände mit Mineralwolleinlage können den abgestrahlten Schall reduzieren. Bei einer Luft-Wasser-Wärmepumpe bietet sich außerdem eine schalldämmende Haube für die Außeneinheit an. Welche Kombi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Maßnahmen reduzieren Schall und Vibration?</a:t>
            </a:r>
          </a:p>
        </p:txBody>
      </p:sp>
      <p:sp>
        <p:nvSpPr>
          <p:cNvPr id="3" name="Content Placeholder 2"/>
          <p:cNvSpPr>
            <a:spLocks noGrp="1"/>
          </p:cNvSpPr>
          <p:nvPr>
            <p:ph idx="1"/>
          </p:nvPr>
        </p:nvSpPr>
        <p:spPr/>
        <p:txBody>
          <a:bodyPr/>
          <a:lstStyle/>
          <a:p>
            <a:pPr>
              <a:defRPr sz="1800"/>
            </a:pPr>
            <a:r>
              <a:t>nation für das konkrete Dachgeschoss wirksam ist, hängt von Gerät, Untergrund und Raumakustik ab und sollte vor der Installation fachlich beurteilt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Förderung, Dämmung und Genehmigungen vorbereitet?</a:t>
            </a:r>
          </a:p>
        </p:txBody>
      </p:sp>
      <p:sp>
        <p:nvSpPr>
          <p:cNvPr id="3" name="Content Placeholder 2"/>
          <p:cNvSpPr>
            <a:spLocks noGrp="1"/>
          </p:cNvSpPr>
          <p:nvPr>
            <p:ph idx="1"/>
          </p:nvPr>
        </p:nvSpPr>
        <p:spPr/>
        <p:txBody>
          <a:bodyPr/>
          <a:lstStyle/>
          <a:p>
            <a:pPr>
              <a:defRPr sz="1800"/>
            </a:pPr>
            <a:r>
              <a:t>Für Wärmepumpen, die eine bestehende fossile Heizung ersetzen, ist nach den Angaben der Quelle auch 2026 eine Bundesförderung möglich. Voraussetzung ist unter anderem ein hydraulischer Abgleich und die Anbindung an Niedertemperatur-Heizflächen. Förderanträge sollten deshalb vor der Auftragsvergabe vorbereitet werden. Zudem können ein PV-Stromspeicher und Energiemanagement den Betrieb unterstützen. Die GEG-konforme Dämmung der Dachflächen hilft, niedrige Vorlauftemperaturen zu halten. Für Außenaufstellungen, Schornsteinfeger oder Netzbetreiber kann eine Abstimmung erforderlich sein; eine Sole-Bohrung benötigt zusätzlich die wasserrechtliche 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Förderung, Dämmung und Genehmigungen vorbereitet?</a:t>
            </a:r>
          </a:p>
        </p:txBody>
      </p:sp>
      <p:sp>
        <p:nvSpPr>
          <p:cNvPr id="3" name="Content Placeholder 2"/>
          <p:cNvSpPr>
            <a:spLocks noGrp="1"/>
          </p:cNvSpPr>
          <p:nvPr>
            <p:ph idx="1"/>
          </p:nvPr>
        </p:nvSpPr>
        <p:spPr/>
        <p:txBody>
          <a:bodyPr/>
          <a:lstStyle/>
          <a:p>
            <a:pPr>
              <a:defRPr sz="1800"/>
            </a:pPr>
            <a:r>
              <a:t>nehmigung. Der übersichtliche Ablauf zur [Wärmepumpe im Dachgeschoss 2026](https://gitlab.com/info4678/dachgeschossausbauduesseldorf/-/blob/6079a84364a8da7721486916f1f7783f935f7d84/_posts/2026-10-24-waermepumpe-dachgeschoss-aufstellung-schallschutz-foerderung.md) fasst Aufstellung, Schallschutz und Förderung zusammen.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Wärmepumpe im Dachgeschoss: Aufstellung, Schallschutz und Förderung 2026</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